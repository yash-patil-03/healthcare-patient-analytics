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5 Diagnosed Conditions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Migraine</c:v>
                  </c:pt>
                  <c:pt idx="1">
                    <c:v>Hypertension</c:v>
                  </c:pt>
                  <c:pt idx="2">
                    <c:v>Asthma</c:v>
                  </c:pt>
                  <c:pt idx="3">
                    <c:v>Healthy</c:v>
                  </c:pt>
                  <c:pt idx="4">
                    <c:v>Diabetes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2039</c:v>
                </c:pt>
                <c:pt idx="1">
                  <c:v>2011</c:v>
                </c:pt>
                <c:pt idx="2">
                  <c:v>2009</c:v>
                </c:pt>
                <c:pt idx="3">
                  <c:v>1981</c:v>
                </c:pt>
                <c:pt idx="4">
                  <c:v>1960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A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A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Patients by Age Group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D5C63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Adult</c:v>
                </c:pt>
                <c:pt idx="1">
                  <c:v>Senior</c:v>
                </c:pt>
                <c:pt idx="2">
                  <c:v>Pediatric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5918</c:v>
                </c:pt>
                <c:pt idx="1">
                  <c:v>3496</c:v>
                </c:pt>
                <c:pt idx="2">
                  <c:v>586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Total Revenue by Year &amp; Month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Mar'23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  <c:pt idx="5">
                    <c:v>Aug</c:v>
                  </c:pt>
                  <c:pt idx="6">
                    <c:v>Sep</c:v>
                  </c:pt>
                  <c:pt idx="7">
                    <c:v>Oct</c:v>
                  </c:pt>
                  <c:pt idx="8">
                    <c:v>Nov</c:v>
                  </c:pt>
                  <c:pt idx="9">
                    <c:v>Dec</c:v>
                  </c:pt>
                  <c:pt idx="10">
                    <c:v>Jan'24</c:v>
                  </c:pt>
                  <c:pt idx="11">
                    <c:v>Feb</c:v>
                  </c:pt>
                  <c:pt idx="12">
                    <c:v>Mar</c:v>
                  </c:pt>
                  <c:pt idx="13">
                    <c:v>Apr</c:v>
                  </c:pt>
                  <c:pt idx="14">
                    <c:v>May</c:v>
                  </c:pt>
                  <c:pt idx="15">
                    <c:v>Jun</c:v>
                  </c:pt>
                  <c:pt idx="16">
                    <c:v>Jul</c:v>
                  </c:pt>
                  <c:pt idx="17">
                    <c:v>Aug</c:v>
                  </c:pt>
                  <c:pt idx="18">
                    <c:v>Sep</c:v>
                  </c:pt>
                  <c:pt idx="19">
                    <c:v>Oct</c:v>
                  </c:pt>
                  <c:pt idx="20">
                    <c:v>Nov</c:v>
                  </c:pt>
                  <c:pt idx="21">
                    <c:v>Dec</c:v>
                  </c:pt>
                  <c:pt idx="22">
                    <c:v>Jan'25</c:v>
                  </c:pt>
                  <c:pt idx="23">
                    <c:v>Feb</c:v>
                  </c:pt>
                  <c:pt idx="24">
                    <c:v>Mar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74380</c:v>
                </c:pt>
                <c:pt idx="1">
                  <c:v>212000</c:v>
                </c:pt>
                <c:pt idx="2">
                  <c:v>217000</c:v>
                </c:pt>
                <c:pt idx="3">
                  <c:v>205000</c:v>
                </c:pt>
                <c:pt idx="4">
                  <c:v>249000</c:v>
                </c:pt>
                <c:pt idx="5">
                  <c:v>230000</c:v>
                </c:pt>
                <c:pt idx="6">
                  <c:v>221000</c:v>
                </c:pt>
                <c:pt idx="7">
                  <c:v>205000</c:v>
                </c:pt>
                <c:pt idx="8">
                  <c:v>199000</c:v>
                </c:pt>
                <c:pt idx="9">
                  <c:v>207000</c:v>
                </c:pt>
                <c:pt idx="10">
                  <c:v>236000</c:v>
                </c:pt>
                <c:pt idx="11">
                  <c:v>216000</c:v>
                </c:pt>
                <c:pt idx="12">
                  <c:v>212000</c:v>
                </c:pt>
                <c:pt idx="13">
                  <c:v>221000</c:v>
                </c:pt>
                <c:pt idx="14">
                  <c:v>230000</c:v>
                </c:pt>
                <c:pt idx="15">
                  <c:v>205000</c:v>
                </c:pt>
                <c:pt idx="16">
                  <c:v>249000</c:v>
                </c:pt>
                <c:pt idx="17">
                  <c:v>230000</c:v>
                </c:pt>
                <c:pt idx="18">
                  <c:v>221000</c:v>
                </c:pt>
                <c:pt idx="19">
                  <c:v>207000</c:v>
                </c:pt>
                <c:pt idx="20">
                  <c:v>216000</c:v>
                </c:pt>
                <c:pt idx="21">
                  <c:v>207000</c:v>
                </c:pt>
                <c:pt idx="22">
                  <c:v>151000</c:v>
                </c:pt>
                <c:pt idx="23">
                  <c:v>130000</c:v>
                </c:pt>
                <c:pt idx="24">
                  <c:v>110000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A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A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Lab Test Results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Lab Tests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Abnormal</c:v>
                </c:pt>
                <c:pt idx="1">
                  <c:v>Normal</c:v>
                </c:pt>
                <c:pt idx="2">
                  <c:v>Pending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3354</c:v>
                </c:pt>
                <c:pt idx="1">
                  <c:v>3302</c:v>
                </c:pt>
                <c:pt idx="2">
                  <c:v>3344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7 Doctors by Patient Load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Elaine Garrison</c:v>
                  </c:pt>
                  <c:pt idx="1">
                    <c:v>Michael Cardenas</c:v>
                  </c:pt>
                  <c:pt idx="2">
                    <c:v>Mr. Lucas Hamilton</c:v>
                  </c:pt>
                  <c:pt idx="3">
                    <c:v>Lisa Reynolds</c:v>
                  </c:pt>
                  <c:pt idx="4">
                    <c:v>Samantha Hamilton</c:v>
                  </c:pt>
                  <c:pt idx="5">
                    <c:v>Daniel Wilson</c:v>
                  </c:pt>
                  <c:pt idx="6">
                    <c:v>Garrett Kelley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29</c:v>
                </c:pt>
                <c:pt idx="1">
                  <c:v>26</c:v>
                </c:pt>
                <c:pt idx="2">
                  <c:v>24</c:v>
                </c:pt>
                <c:pt idx="3">
                  <c:v>24</c:v>
                </c:pt>
                <c:pt idx="4">
                  <c:v>21</c:v>
                </c:pt>
                <c:pt idx="5">
                  <c:v>20</c:v>
                </c:pt>
                <c:pt idx="6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A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A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-457200"/>
            <a:ext cx="2560320" cy="256032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457200" y="5303520"/>
            <a:ext cx="2286000" cy="22860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486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 Healthcare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Report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457200" y="37947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• 2023–2025  |  10,000 Patients  •  1,000 Doctors  •  10,000 Visits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4251960"/>
            <a:ext cx="502920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457200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028090">
              <a:alpha val="4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4572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0" y="457200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028090">
              <a:alpha val="4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0" y="4572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0" y="457200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028090">
              <a:alpha val="4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4572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0" y="457200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028090">
              <a:alpha val="4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0" y="4572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MySQL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126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Axon Analytics Team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4864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109728" cy="1143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1615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12344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7099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Scope &amp; Tools Used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54864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514600"/>
            <a:ext cx="109728" cy="1143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8775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34440" y="26060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0815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Metrics at a Glance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54864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886200"/>
            <a:ext cx="109728" cy="1143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5935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34440" y="3977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Dashboard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44531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Analysis in Excel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5257800"/>
            <a:ext cx="54864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5257800"/>
            <a:ext cx="109728" cy="1143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3095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234440" y="5349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58247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View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1143000"/>
            <a:ext cx="54864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1143000"/>
            <a:ext cx="109728" cy="1143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121615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178040" y="12344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78040" y="17099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Analytics &amp; Deep Dive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2514600"/>
            <a:ext cx="54864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2514600"/>
            <a:ext cx="109728" cy="1143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258775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178040" y="26060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&amp; Logic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78040" y="30815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Methodology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3886200"/>
            <a:ext cx="54864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09360" y="3886200"/>
            <a:ext cx="109728" cy="1143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395935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178040" y="3977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178040" y="44531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from the Data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09360" y="5257800"/>
            <a:ext cx="54864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09360" y="5257800"/>
            <a:ext cx="109728" cy="1143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/>
          <p:nvPr/>
        </p:nvSpPr>
        <p:spPr>
          <a:xfrm>
            <a:off x="6492240" y="533095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7178040" y="5349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178040" y="58247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5303520" cy="5212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745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82880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full-scale healthcare analytics system using real-world patient data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7919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63347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key clinical &amp; financial KPIs across 10,000 patients and 1,000 doctors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83864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343814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diagnosis trends, lab test results, and treatment costs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88536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424281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interactive dashboards in Excel, Power BI, and Tableau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093208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2960" y="504748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data-driven decision-making for hospital management</a:t>
            </a:r>
            <a:endParaRPr lang="en-US" sz="1150" dirty="0"/>
          </a:p>
        </p:txBody>
      </p:sp>
      <p:sp>
        <p:nvSpPr>
          <p:cNvPr id="16" name="Shape 9"/>
          <p:cNvSpPr/>
          <p:nvPr/>
        </p:nvSpPr>
        <p:spPr>
          <a:xfrm>
            <a:off x="5897880" y="1051560"/>
            <a:ext cx="28346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5897880" y="1051560"/>
            <a:ext cx="2834640" cy="5029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1143000"/>
            <a:ext cx="320040" cy="3200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446520" y="112471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6080760" y="169164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healthcare_db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8961120" y="1051560"/>
            <a:ext cx="28346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8961120" y="1051560"/>
            <a:ext cx="2834640" cy="5029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1143000"/>
            <a:ext cx="320040" cy="32004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509760" y="112471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9144000" y="169164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• Excel • Power BI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• MySQL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5897880" y="3749040"/>
            <a:ext cx="28346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5897880" y="3749040"/>
            <a:ext cx="2834640" cy="5029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3840480"/>
            <a:ext cx="320040" cy="32004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446520" y="382219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6080760" y="43891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Patients  |  1K Doctors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Visits  |  10K Lab Tests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8961120" y="3749040"/>
            <a:ext cx="28346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8961120" y="3749040"/>
            <a:ext cx="2834640" cy="5029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8280" y="3840480"/>
            <a:ext cx="320040" cy="32004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9509760" y="382219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200" dirty="0"/>
          </a:p>
        </p:txBody>
      </p:sp>
      <p:sp>
        <p:nvSpPr>
          <p:cNvPr id="35" name="Text 24"/>
          <p:cNvSpPr/>
          <p:nvPr/>
        </p:nvSpPr>
        <p:spPr>
          <a:xfrm>
            <a:off x="9144000" y="43891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2023 — March 2025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 Months of Data)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KPI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metrics powering clinical and financial decisions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2651760" cy="21945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148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11480" y="2971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280160"/>
            <a:ext cx="2651760" cy="2194560"/>
          </a:xfrm>
          <a:prstGeom prst="rect">
            <a:avLst/>
          </a:prstGeom>
          <a:solidFill>
            <a:srgbClr val="0D5C6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5087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2148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3291840" y="2971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Doctors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80760" y="1280160"/>
            <a:ext cx="2651760" cy="21945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087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72200" y="2148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6172200" y="2971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Visits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961120" y="1280160"/>
            <a:ext cx="2651760" cy="2194560"/>
          </a:xfrm>
          <a:prstGeom prst="rect">
            <a:avLst/>
          </a:prstGeom>
          <a:solidFill>
            <a:srgbClr val="0D5C6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50876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52560" y="2148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3000" dirty="0"/>
          </a:p>
        </p:txBody>
      </p:sp>
      <p:sp>
        <p:nvSpPr>
          <p:cNvPr id="19" name="Text 13"/>
          <p:cNvSpPr/>
          <p:nvPr/>
        </p:nvSpPr>
        <p:spPr>
          <a:xfrm>
            <a:off x="9052560" y="2971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Tests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0040" y="3840480"/>
            <a:ext cx="2651760" cy="2194560"/>
          </a:xfrm>
          <a:prstGeom prst="rect">
            <a:avLst/>
          </a:prstGeom>
          <a:solidFill>
            <a:srgbClr val="1B8A7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06908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11480" y="4709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5.25M</a:t>
            </a:r>
            <a:endParaRPr lang="en-US" sz="3000" dirty="0"/>
          </a:p>
        </p:txBody>
      </p:sp>
      <p:sp>
        <p:nvSpPr>
          <p:cNvPr id="23" name="Text 16"/>
          <p:cNvSpPr/>
          <p:nvPr/>
        </p:nvSpPr>
        <p:spPr>
          <a:xfrm>
            <a:off x="411480" y="5532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($)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3200400" y="3840480"/>
            <a:ext cx="2651760" cy="21945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4069080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291840" y="4709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$524.75</a:t>
            </a:r>
            <a:endParaRPr lang="en-US" sz="3000" dirty="0"/>
          </a:p>
        </p:txBody>
      </p:sp>
      <p:sp>
        <p:nvSpPr>
          <p:cNvPr id="27" name="Text 19"/>
          <p:cNvSpPr/>
          <p:nvPr/>
        </p:nvSpPr>
        <p:spPr>
          <a:xfrm>
            <a:off x="3291840" y="5532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 / Visit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080760" y="3840480"/>
            <a:ext cx="2651760" cy="2194560"/>
          </a:xfrm>
          <a:prstGeom prst="rect">
            <a:avLst/>
          </a:prstGeom>
          <a:solidFill>
            <a:srgbClr val="0D5C6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4069080"/>
            <a:ext cx="502920" cy="5029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172200" y="4709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3000" dirty="0"/>
          </a:p>
        </p:txBody>
      </p:sp>
      <p:sp>
        <p:nvSpPr>
          <p:cNvPr id="31" name="Text 22"/>
          <p:cNvSpPr/>
          <p:nvPr/>
        </p:nvSpPr>
        <p:spPr>
          <a:xfrm>
            <a:off x="6172200" y="5532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Patient Age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8961120" y="3840480"/>
            <a:ext cx="2651760" cy="2194560"/>
          </a:xfrm>
          <a:prstGeom prst="rect">
            <a:avLst/>
          </a:prstGeom>
          <a:solidFill>
            <a:srgbClr val="1B8A7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4069080"/>
            <a:ext cx="502920" cy="50292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052560" y="4709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49.84%</a:t>
            </a:r>
            <a:endParaRPr lang="en-US" sz="3000" dirty="0"/>
          </a:p>
        </p:txBody>
      </p:sp>
      <p:sp>
        <p:nvSpPr>
          <p:cNvPr id="35" name="Text 25"/>
          <p:cNvSpPr/>
          <p:nvPr/>
        </p:nvSpPr>
        <p:spPr>
          <a:xfrm>
            <a:off x="9052560" y="5532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Rate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Excel Dashboard</a:t>
            </a:r>
            <a:endParaRPr lang="en-US" sz="2400" dirty="0"/>
          </a:p>
        </p:txBody>
      </p:sp>
      <p:pic>
        <p:nvPicPr>
          <p:cNvPr id="4" name="Image 0" descr="/home/claude/img_exc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51560"/>
            <a:ext cx="7772400" cy="52120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321040" y="1051560"/>
            <a:ext cx="3520440" cy="5212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58200" y="1143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458200" y="169164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8732520" y="16642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KPI cards with icons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458200" y="2340864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8732520" y="231343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Diagnosis bar chart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458200" y="2990088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8732520" y="296265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donut chart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458200" y="3639312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8732520" y="36118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Results distribution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458200" y="4288536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8732520" y="4261104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 line (2023–25)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458200" y="493776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8732520" y="49103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7 Doctors by workload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458200" y="5586984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7"/>
          <p:cNvSpPr/>
          <p:nvPr/>
        </p:nvSpPr>
        <p:spPr>
          <a:xfrm>
            <a:off x="8732520" y="555955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interactive filter slicers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Power BI Dashboard</a:t>
            </a:r>
            <a:endParaRPr lang="en-US" sz="2400" dirty="0"/>
          </a:p>
        </p:txBody>
      </p:sp>
      <p:pic>
        <p:nvPicPr>
          <p:cNvPr id="4" name="Image 0" descr="/home/claude/img_powerb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51560"/>
            <a:ext cx="7772400" cy="52120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321040" y="1051560"/>
            <a:ext cx="3520440" cy="5212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58200" y="1143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458200" y="169164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8732520" y="16642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filter: 2023 / 2024 / 2025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458200" y="2340864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8732520" y="231343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workload bar chart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458200" y="2990088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8732520" y="296265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result donut (3 segments)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458200" y="3639312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8732520" y="36118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pie chart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458200" y="4288536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8732520" y="4261104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Year &amp; Month line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458200" y="493776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8732520" y="49103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bar chart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458200" y="5586984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7"/>
          <p:cNvSpPr/>
          <p:nvPr/>
        </p:nvSpPr>
        <p:spPr>
          <a:xfrm>
            <a:off x="8732520" y="555955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&amp; status slicers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Tableau Dashboard</a:t>
            </a:r>
            <a:endParaRPr lang="en-US" sz="2400" dirty="0"/>
          </a:p>
        </p:txBody>
      </p:sp>
      <p:pic>
        <p:nvPicPr>
          <p:cNvPr id="4" name="Image 0" descr="/home/claude/img_table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51560"/>
            <a:ext cx="7772400" cy="52120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321040" y="1051560"/>
            <a:ext cx="3520440" cy="5212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58200" y="1143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458200" y="169164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8732520" y="16642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Visit Status &amp; Treatment filters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458200" y="2340864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8732520" y="231343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Name &amp; Specialty slicers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458200" y="2990088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8732520" y="296265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Diagnosis bar chart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458200" y="3639312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8732520" y="36118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by Age Group donut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458200" y="4288536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8732520" y="4261104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Test Results distribution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458200" y="493776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8732520" y="49103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line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458200" y="5586984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7"/>
          <p:cNvSpPr/>
          <p:nvPr/>
        </p:nvSpPr>
        <p:spPr>
          <a:xfrm>
            <a:off x="8732520" y="555955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7 Doctors by patient load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SQL Queries &amp; Logic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3749040" cy="5212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3749040" cy="5029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1155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107899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KPI Queries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3474720" cy="42976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" y="1755648"/>
            <a:ext cx="3364992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COUNT(PatientID) AS total_patients FROM patients;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COUNT(DoctorID) AS total_doctors FROM doctors;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ROUND(SUM(TreatmentCost),2) AS total_revenue FROM treatments;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ROUND(AVG(Age)) AS avg_patient_age FROM patients;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70248" y="1051560"/>
            <a:ext cx="3749040" cy="5212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70248" y="1051560"/>
            <a:ext cx="3749040" cy="5029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11556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45736" y="107899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Visit Analysis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407408" y="1691640"/>
            <a:ext cx="3474720" cy="42976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5" name="Text 11"/>
          <p:cNvSpPr/>
          <p:nvPr/>
        </p:nvSpPr>
        <p:spPr>
          <a:xfrm>
            <a:off x="4471416" y="1755648"/>
            <a:ext cx="3364992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Diagnosis, COUNT(VisitID) AS total_patients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visits GROUP BY Diagnosis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total_patients DESC LIMIT 5;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ROUND(SUM(FollowUpFlag)/COUNT(VisitID)*100,2) AS followup_rate FROM visits;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220456" y="1051560"/>
            <a:ext cx="3749040" cy="5212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0456" y="1051560"/>
            <a:ext cx="3749040" cy="5029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11556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95944" y="107899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 (Year &amp; Month)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357616" y="1691640"/>
            <a:ext cx="3474720" cy="42976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Text 16"/>
          <p:cNvSpPr/>
          <p:nvPr/>
        </p:nvSpPr>
        <p:spPr>
          <a:xfrm>
            <a:off x="8421624" y="1755648"/>
            <a:ext cx="3364992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YEAR(v.VisitDate) AS year,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MONTHNAME(MIN(v.VisitDate)) AS month,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ROUND(SUM(t.TreatmentCost),2) AS monthly_revenue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treatments t JOIN visits v ON t.VisitID=v.VisitID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20040" y="6400800"/>
            <a:ext cx="11521440" cy="274320"/>
          </a:xfrm>
          <a:prstGeom prst="rect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320040" y="6419088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queries: Lab test distribution, Age group segmentation, Doctor workload, Patient full-profile view (vw_PatientFullProfile)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•  Key Findings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97280"/>
          <a:ext cx="56692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097280"/>
          <a:ext cx="56235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320040" y="3977640"/>
          <a:ext cx="115214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•  Key Findings (continued)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51560"/>
          <a:ext cx="566928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051560"/>
          <a:ext cx="562356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•  Conclusion &amp; Recommendations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6576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3657600" cy="2377440"/>
          </a:xfrm>
          <a:prstGeom prst="rect">
            <a:avLst/>
          </a:prstGeom>
          <a:solidFill>
            <a:srgbClr val="0D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3657600" cy="45720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09728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7899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Diagnosis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160020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Migraine leads with 2,039 cases, followed closely by Hypertension (2,011) and Asthma (2,009)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97680" y="1005840"/>
            <a:ext cx="3657600" cy="2377440"/>
          </a:xfrm>
          <a:prstGeom prst="rect">
            <a:avLst/>
          </a:prstGeom>
          <a:solidFill>
            <a:srgbClr val="0D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1005840"/>
            <a:ext cx="3657600" cy="45720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09728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4880" y="107899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434840" y="160020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 Adults • 35% Seniors • 6% Pediatric. Average age is 49 — focus on chronic disease management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229600" y="1005840"/>
            <a:ext cx="3657600" cy="2377440"/>
          </a:xfrm>
          <a:prstGeom prst="rect">
            <a:avLst/>
          </a:prstGeom>
          <a:solidFill>
            <a:srgbClr val="0D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0" y="1005840"/>
            <a:ext cx="3657600" cy="45720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109728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86800" y="107899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Results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366760" y="160020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One-third abnormal results (33.54%) demand urgent diagnostic review and follow-up protocols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65760" y="3703320"/>
            <a:ext cx="3657600" cy="2377440"/>
          </a:xfrm>
          <a:prstGeom prst="rect">
            <a:avLst/>
          </a:prstGeom>
          <a:solidFill>
            <a:srgbClr val="0D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65760" y="3703320"/>
            <a:ext cx="3657600" cy="45720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79476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2960" y="377647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02920" y="42976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$5.25M total revenue over 25 months with avg cost of $524.75 per visit. Revenue dipped in 2025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297680" y="3703320"/>
            <a:ext cx="3657600" cy="2377440"/>
          </a:xfrm>
          <a:prstGeom prst="rect">
            <a:avLst/>
          </a:prstGeom>
          <a:solidFill>
            <a:srgbClr val="0D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297680" y="3703320"/>
            <a:ext cx="3657600" cy="45720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08" y="3794760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754880" y="377647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Gap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434840" y="42976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49.84% follow-up rate means half of patients are not returning — patient retention needs improvement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229600" y="3703320"/>
            <a:ext cx="3657600" cy="2377440"/>
          </a:xfrm>
          <a:prstGeom prst="rect">
            <a:avLst/>
          </a:prstGeom>
          <a:solidFill>
            <a:srgbClr val="0D2D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229600" y="3703320"/>
            <a:ext cx="3657600" cy="45720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8" y="3794760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686800" y="377647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Workload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8366760" y="42976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Elaine Garrison leads with 29 patients. Workload is relatively balanced across top doctors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731520"/>
            <a:ext cx="4572000" cy="457200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657600"/>
            <a:ext cx="4572000" cy="457200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144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0116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 Healthcare Analysis  •  2023 – 2025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3931920"/>
            <a:ext cx="502920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 SQL  •  Excel  •  Power BI  •  Tableau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speaks. Decisions follow.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Axon Healthcare Analysis</dc:title>
  <dc:subject>PptxGenJS Presentation</dc:subject>
  <dc:creator>PptxGenJS</dc:creator>
  <cp:lastModifiedBy>PptxGenJS</cp:lastModifiedBy>
  <cp:revision>1</cp:revision>
  <dcterms:created xsi:type="dcterms:W3CDTF">2026-04-25T01:22:02Z</dcterms:created>
  <dcterms:modified xsi:type="dcterms:W3CDTF">2026-04-25T01:22:02Z</dcterms:modified>
</cp:coreProperties>
</file>